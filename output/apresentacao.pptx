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resume os 3 pilares do projeto. Cada pilar será detalhado nos slides seguintes.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frontend usa 6 abas no dashboard: Perfil, Serviços, Contatos, Projetos, Depoimentos e Orçamentos. O backend segue padrão consistente de 3 arquivos por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encerramento de conteúdo. Reforçar que todos os conceitos da disciplina foram aplicados: modelagem, arquitetura em camadas, controle de estados, regras de negócio e automação.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1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Web Unobtainium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Plataforma Full-Stack de Orçamentos Comerciais</a:t>
            </a:r>
          </a:p>
          <a:p>
            <a:r>
              <a:t>CC6PDSW — Junho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2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projeto evoluiu de um CRUD básico para uma plataforma profissional com 5 melhorias de produção e um módulo completo de orçamentos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2004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9BA74"/>
                </a:solidFill>
              </a:rPr>
              <a:t>Arquitetura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8346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Fastify + Prisma + Next.js 14</a:t>
            </a:r>
            <a:br/>
            <a:r>
              <a:rPr sz="1400" b="0">
                <a:solidFill>
                  <a:srgbClr val="333333"/>
                </a:solidFill>
              </a:rPr>
              <a:t>Arquitetura em 3 camadas</a:t>
            </a:r>
            <a:br/>
            <a:r>
              <a:rPr sz="1400" b="0">
                <a:solidFill>
                  <a:srgbClr val="333333"/>
                </a:solidFill>
              </a:rPr>
              <a:t>Autenticação JWT httpOnly</a:t>
            </a:r>
            <a:br/>
            <a:r>
              <a:rPr sz="1400" b="0">
                <a:solidFill>
                  <a:srgbClr val="333333"/>
                </a:solidFill>
              </a:rPr>
              <a:t>8 modelos de dados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92024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920240"/>
            <a:ext cx="32004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4884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9BA74"/>
                </a:solidFill>
              </a:rPr>
              <a:t>Melhorias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06040"/>
            <a:ext cx="28346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Erros centralizados</a:t>
            </a:r>
            <a:br/>
            <a:r>
              <a:rPr sz="1400" b="0">
                <a:solidFill>
                  <a:srgbClr val="333333"/>
                </a:solidFill>
              </a:rPr>
              <a:t>Rate limiting de login</a:t>
            </a:r>
            <a:br/>
            <a:r>
              <a:rPr sz="1400" b="0">
                <a:solidFill>
                  <a:srgbClr val="333333"/>
                </a:solidFill>
              </a:rPr>
              <a:t>Autorização RBAC (admin/user)</a:t>
            </a:r>
            <a:br/>
            <a:r>
              <a:rPr sz="1400" b="0">
                <a:solidFill>
                  <a:srgbClr val="333333"/>
                </a:solidFill>
              </a:rPr>
              <a:t>Paginação e busca textual</a:t>
            </a:r>
            <a:br/>
            <a:r>
              <a:rPr sz="1400" b="0">
                <a:solidFill>
                  <a:srgbClr val="333333"/>
                </a:solidFill>
              </a:rPr>
              <a:t>Normalização de 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920240"/>
            <a:ext cx="3200400" cy="3657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920240"/>
            <a:ext cx="32004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148840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9BA74"/>
                </a:solidFill>
              </a:rPr>
              <a:t>Orçamentos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06040"/>
            <a:ext cx="28346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Máquina de estados (5 status)</a:t>
            </a:r>
            <a:br/>
            <a:r>
              <a:rPr sz="1400" b="0">
                <a:solidFill>
                  <a:srgbClr val="333333"/>
                </a:solidFill>
              </a:rPr>
              <a:t>Cálculos server-side</a:t>
            </a:r>
            <a:br/>
            <a:r>
              <a:rPr sz="1400" b="0">
                <a:solidFill>
                  <a:srgbClr val="333333"/>
                </a:solidFill>
              </a:rPr>
              <a:t>Histórico de alterações</a:t>
            </a:r>
            <a:br/>
            <a:r>
              <a:rPr sz="1400" b="0">
                <a:solidFill>
                  <a:srgbClr val="333333"/>
                </a:solidFill>
              </a:rPr>
              <a:t>Relatórios gerenciais</a:t>
            </a:r>
            <a:br/>
            <a:r>
              <a:rPr sz="1400" b="0">
                <a:solidFill>
                  <a:srgbClr val="333333"/>
                </a:solidFill>
              </a:rPr>
              <a:t>Expiração automática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3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 do Sistema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4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arquitetura separa frontend Next.js do backend Fastify, comunicando-se via API REST com autenticação JWT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0292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9BA74"/>
                </a:solidFill>
              </a:rPr>
              <a:t>Frontend — Next.js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466344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App Router com Server/Client Components</a:t>
            </a:r>
            <a:br/>
            <a:r>
              <a:rPr sz="1400" b="0">
                <a:solidFill>
                  <a:srgbClr val="333333"/>
                </a:solidFill>
              </a:rPr>
              <a:t>shadcn/ui v4 (base-nova) + @base-ui/react</a:t>
            </a:r>
            <a:br/>
            <a:r>
              <a:rPr sz="1400" b="0">
                <a:solidFill>
                  <a:srgbClr val="333333"/>
                </a:solidFill>
              </a:rPr>
              <a:t>React Hook Form + ZodResolver</a:t>
            </a:r>
            <a:br/>
            <a:r>
              <a:rPr sz="1400" b="0">
                <a:solidFill>
                  <a:srgbClr val="333333"/>
                </a:solidFill>
              </a:rPr>
              <a:t>Tailwind CSS + tw-animate-css</a:t>
            </a:r>
            <a:br/>
            <a:r>
              <a:rPr sz="1400" b="0">
                <a:solidFill>
                  <a:srgbClr val="333333"/>
                </a:solidFill>
              </a:rPr>
              <a:t>Middleware protege /dashboard/*</a:t>
            </a:r>
            <a:br/>
            <a:r>
              <a:rPr sz="1400" b="0">
                <a:solidFill>
                  <a:srgbClr val="333333"/>
                </a:solidFill>
              </a:rPr>
              <a:t>API_URL: localhost:3001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92024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1920240"/>
            <a:ext cx="50292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148840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29BA74"/>
                </a:solidFill>
              </a:rPr>
              <a:t>Backend — Fastify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06040"/>
            <a:ext cx="466344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Fastify 4.28 + Prisma 5 + SQLite</a:t>
            </a:r>
            <a:br/>
            <a:r>
              <a:rPr sz="1400" b="0">
                <a:solidFill>
                  <a:srgbClr val="333333"/>
                </a:solidFill>
              </a:rPr>
              <a:t>Arquitetura: schema → service → routes</a:t>
            </a:r>
            <a:br/>
            <a:r>
              <a:rPr sz="1400" b="0">
                <a:solidFill>
                  <a:srgbClr val="333333"/>
                </a:solidFill>
              </a:rPr>
              <a:t>JWT em cookie httpOnly (24h)</a:t>
            </a:r>
            <a:br/>
            <a:r>
              <a:rPr sz="1400" b="0">
                <a:solidFill>
                  <a:srgbClr val="333333"/>
                </a:solidFill>
              </a:rPr>
              <a:t>4 plugins: CORS, auth, error-handler, rate-limit</a:t>
            </a:r>
            <a:br/>
            <a:r>
              <a:rPr sz="1400" b="0">
                <a:solidFill>
                  <a:srgbClr val="333333"/>
                </a:solidFill>
              </a:rPr>
              <a:t>7 módulos REST com CRUD completo</a:t>
            </a:r>
            <a:br/>
            <a:r>
              <a:rPr sz="1400" b="0">
                <a:solidFill>
                  <a:srgbClr val="333333"/>
                </a:solidFill>
              </a:rPr>
              <a:t>Porta 3001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5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Melhorias de Produção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6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Tratamento centralizado de erros, rate limiting e autorização RBAC transformaram a robustez e segurança da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4747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Erros Centralizados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10896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333333"/>
                </a:solidFill>
              </a:rPr>
              <a:t>6 classes de erro hierárquicas:</a:t>
            </a:r>
            <a:br/>
            <a:r>
              <a:rPr sz="1300" b="0">
                <a:solidFill>
                  <a:srgbClr val="333333"/>
                </a:solidFill>
              </a:rPr>
              <a:t>AppError (500), ValidationError (400),</a:t>
            </a:r>
            <a:br/>
            <a:r>
              <a:rPr sz="1300" b="0">
                <a:solidFill>
                  <a:srgbClr val="333333"/>
                </a:solidFill>
              </a:rPr>
              <a:t>NotFoundError (404),</a:t>
            </a:r>
            <a:br/>
            <a:r>
              <a:rPr sz="1300" b="0">
                <a:solidFill>
                  <a:srgbClr val="333333"/>
                </a:solidFill>
              </a:rPr>
              <a:t>UnauthorizedError (401),</a:t>
            </a:r>
            <a:br/>
            <a:r>
              <a:rPr sz="1300" b="0">
                <a:solidFill>
                  <a:srgbClr val="333333"/>
                </a:solidFill>
              </a:rPr>
              <a:t>ForbiddenError (403),</a:t>
            </a:r>
            <a:br/>
            <a:r>
              <a:rPr sz="1300" b="0">
                <a:solidFill>
                  <a:srgbClr val="333333"/>
                </a:solidFill>
              </a:rPr>
              <a:t>RateLimitError (429)</a:t>
            </a:r>
            <a:br/>
            <a:br/>
            <a:r>
              <a:rPr sz="1300" b="0">
                <a:solidFill>
                  <a:srgbClr val="333333"/>
                </a:solidFill>
              </a:rPr>
              <a:t>Handler global via setErrorHandler</a:t>
            </a:r>
            <a:br/>
            <a:r>
              <a:rPr sz="1300" b="0">
                <a:solidFill>
                  <a:srgbClr val="333333"/>
                </a:solidFill>
              </a:rPr>
              <a:t>Resposta padronizada:</a:t>
            </a:r>
            <a:br/>
            <a:r>
              <a:rPr sz="1300" b="0">
                <a:solidFill>
                  <a:srgbClr val="333333"/>
                </a:solidFill>
              </a:rPr>
              <a:t>{ error, message, statusCode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9202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920240"/>
            <a:ext cx="34747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Rate Limiting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310896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333333"/>
                </a:solidFill>
              </a:rPr>
              <a:t>POST /api/auth/login protegido</a:t>
            </a:r>
            <a:br/>
            <a:r>
              <a:rPr sz="1300" b="0">
                <a:solidFill>
                  <a:srgbClr val="333333"/>
                </a:solidFill>
              </a:rPr>
              <a:t>5 tentativas por IP em 15 minutos</a:t>
            </a:r>
            <a:br/>
            <a:r>
              <a:rPr sz="1300" b="0">
                <a:solidFill>
                  <a:srgbClr val="333333"/>
                </a:solidFill>
              </a:rPr>
              <a:t>Bloqueio com HTTP 429</a:t>
            </a:r>
            <a:br/>
            <a:r>
              <a:rPr sz="1300" b="0">
                <a:solidFill>
                  <a:srgbClr val="333333"/>
                </a:solidFill>
              </a:rPr>
              <a:t>Limpeza do contador ao logar</a:t>
            </a:r>
            <a:br/>
            <a:r>
              <a:rPr sz="1300" b="0">
                <a:solidFill>
                  <a:srgbClr val="333333"/>
                </a:solidFill>
              </a:rPr>
              <a:t>com sucesso</a:t>
            </a:r>
            <a:br/>
            <a:br/>
            <a:r>
              <a:rPr sz="1300" b="0">
                <a:solidFill>
                  <a:srgbClr val="333333"/>
                </a:solidFill>
              </a:rPr>
              <a:t>Limpeza periódica do Map</a:t>
            </a:r>
            <a:br/>
            <a:r>
              <a:rPr sz="1300" b="0">
                <a:solidFill>
                  <a:srgbClr val="333333"/>
                </a:solidFill>
              </a:rPr>
              <a:t>a cada 5 minutos para evitar</a:t>
            </a:r>
            <a:br/>
            <a:r>
              <a:rPr sz="1300" b="0">
                <a:solidFill>
                  <a:srgbClr val="333333"/>
                </a:solidFill>
              </a:rPr>
              <a:t>vazamento de memória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9202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920240"/>
            <a:ext cx="34747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Autorização 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06040"/>
            <a:ext cx="310896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333333"/>
                </a:solidFill>
              </a:rPr>
              <a:t>Campo role no User (admin/user)</a:t>
            </a:r>
            <a:br/>
            <a:r>
              <a:rPr sz="1300" b="0">
                <a:solidFill>
                  <a:srgbClr val="333333"/>
                </a:solidFill>
              </a:rPr>
              <a:t>Role incluída no payload JWT</a:t>
            </a:r>
            <a:br/>
            <a:r>
              <a:rPr sz="1300" b="0">
                <a:solidFill>
                  <a:srgbClr val="333333"/>
                </a:solidFill>
              </a:rPr>
              <a:t>Middleware requireAdmin</a:t>
            </a:r>
            <a:br/>
            <a:r>
              <a:rPr sz="1300" b="0">
                <a:solidFill>
                  <a:srgbClr val="333333"/>
                </a:solidFill>
              </a:rPr>
              <a:t>(verifica request.user.role)</a:t>
            </a:r>
            <a:br/>
            <a:br/>
            <a:r>
              <a:rPr sz="1300" b="0">
                <a:solidFill>
                  <a:srgbClr val="333333"/>
                </a:solidFill>
              </a:rPr>
              <a:t>GET/POST/DELETE users → admin</a:t>
            </a:r>
            <a:br/>
            <a:r>
              <a:rPr sz="1300" b="0">
                <a:solidFill>
                  <a:srgbClr val="333333"/>
                </a:solidFill>
              </a:rPr>
              <a:t>PUT users/:id → self ou admin</a:t>
            </a:r>
            <a:br/>
            <a:r>
              <a:rPr sz="1300" b="0">
                <a:solidFill>
                  <a:srgbClr val="333333"/>
                </a:solidFill>
              </a:rPr>
              <a:t>Writes → apenas admin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7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Paginação, ordenação, busca textual e normalização de email completam as melhorias de qualidade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0292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Paginação Padronizada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466344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Helper lib/pagination.ts com parsePagination() e buildSearchFilter()</a:t>
            </a:r>
            <a:br/>
            <a:r>
              <a:rPr sz="1400" b="0">
                <a:solidFill>
                  <a:srgbClr val="333333"/>
                </a:solidFill>
              </a:rPr>
              <a:t>Aplicado a TODOS os 5 endpoints de listagem (users, services, contacts, projects, testimonials)</a:t>
            </a:r>
            <a:br/>
            <a:br/>
            <a:r>
              <a:rPr sz="1400" b="0">
                <a:solidFill>
                  <a:srgbClr val="333333"/>
                </a:solidFill>
              </a:rPr>
              <a:t>Query: ?page=1&amp;limit=20&amp;sort=createdAt&amp;order=desc&amp;search=term</a:t>
            </a:r>
            <a:br/>
            <a:r>
              <a:rPr sz="1400" b="0">
                <a:solidFill>
                  <a:srgbClr val="333333"/>
                </a:solidFill>
              </a:rPr>
              <a:t>Resposta: { data: T[], total, page, limit, totalPages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92024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0" y="1920240"/>
            <a:ext cx="50292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2148840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Busca e Normalização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06040"/>
            <a:ext cx="466344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Busca textual com contains nos campos principais:</a:t>
            </a:r>
            <a:br/>
            <a:r>
              <a:rPr sz="1400" b="0">
                <a:solidFill>
                  <a:srgbClr val="333333"/>
                </a:solidFill>
              </a:rPr>
              <a:t>- Users: username, name</a:t>
            </a:r>
            <a:br/>
            <a:r>
              <a:rPr sz="1400" b="0">
                <a:solidFill>
                  <a:srgbClr val="333333"/>
                </a:solidFill>
              </a:rPr>
              <a:t>- Services/Projects: title, description</a:t>
            </a:r>
            <a:br/>
            <a:r>
              <a:rPr sz="1400" b="0">
                <a:solidFill>
                  <a:srgbClr val="333333"/>
                </a:solidFill>
              </a:rPr>
              <a:t>- Contacts: name, email, message</a:t>
            </a:r>
            <a:br/>
            <a:br/>
            <a:r>
              <a:rPr sz="1400" b="0">
                <a:solidFill>
                  <a:srgbClr val="333333"/>
                </a:solidFill>
              </a:rPr>
              <a:t>Normalização de email (trim + lowercase)</a:t>
            </a:r>
            <a:br/>
            <a:r>
              <a:rPr sz="1400" b="0">
                <a:solidFill>
                  <a:srgbClr val="333333"/>
                </a:solidFill>
              </a:rPr>
              <a:t>em contacts e proposals no momento da criação/edição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8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de Orçamentos e Propostas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9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módulo de propostas implementa máquina de estados com 5 status, cálculos server-side e histórico completo de alterações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6858000" cy="2194560"/>
          </a:xfrm>
          <a:prstGeom prst="roundRect">
            <a:avLst>
              <a:gd name="adj" fmla="val 5000"/>
            </a:avLst>
          </a:prstGeom>
          <a:solidFill>
            <a:srgbClr val="F0FAF5"/>
          </a:solidFill>
          <a:ln w="1905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6492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Máquina de Estados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649224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draft  →  sent  →  accepted</a:t>
            </a:r>
            <a:br/>
            <a:r>
              <a:rPr sz="1400" b="0">
                <a:solidFill>
                  <a:srgbClr val="333333"/>
                </a:solidFill>
              </a:rPr>
              <a:t>                  →  rejected</a:t>
            </a:r>
            <a:br/>
            <a:r>
              <a:rPr sz="1400" b="0">
                <a:solidFill>
                  <a:srgbClr val="333333"/>
                </a:solidFill>
              </a:rPr>
              <a:t>                  →  expired (automático, 7 dias)</a:t>
            </a:r>
            <a:br/>
            <a:br/>
            <a:r>
              <a:rPr sz="1400" b="0">
                <a:solidFill>
                  <a:srgbClr val="333333"/>
                </a:solidFill>
              </a:rPr>
              <a:t>Transições validadas: apenas draft→sent, sent→accepted, sent→rejected, sent→expired (cron). Bloqueio de transições inválidas.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685800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685800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6492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Regras de Negócio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64922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333333"/>
                </a:solidFill>
              </a:rPr>
              <a:t>Cálculo server-side: unitPrice do Service, subtotal = qty × unitPrice, total = subtotal − desconto (0 ≤ desc ≤ subtotal)</a:t>
            </a:r>
            <a:br/>
            <a:r>
              <a:rPr sz="1300" b="0">
                <a:solidFill>
                  <a:srgbClr val="333333"/>
                </a:solidFill>
              </a:rPr>
              <a:t>Draft editável: itens, desconto, dados do cliente. Ao enviar, itens e desconto são congelados — apenas status pode mudar.</a:t>
            </a:r>
            <a:br/>
            <a:r>
              <a:rPr sz="1300" b="0">
                <a:solidFill>
                  <a:srgbClr val="333333"/>
                </a:solidFill>
              </a:rPr>
              <a:t>Histórico de auditoria registra: campo alterado, valor antigo → novo, usuário, timestamp.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0">
                <a:solidFill>
                  <a:srgbClr val="999999"/>
                </a:solidFill>
              </a:rPr>
              <a:t>Source: Especificação do módulo de orçamentos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10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Três novos modelos sustentam o módulo: Proposal, ProposalItem e ProposalHistory com 11 endpoints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34747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310896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333333"/>
                </a:solidFill>
              </a:rPr>
              <a:t>id, title, clientName</a:t>
            </a:r>
            <a:br/>
            <a:r>
              <a:rPr sz="1300" b="0">
                <a:solidFill>
                  <a:srgbClr val="333333"/>
                </a:solidFill>
              </a:rPr>
              <a:t>clientEmail, subtotal</a:t>
            </a:r>
            <a:br/>
            <a:r>
              <a:rPr sz="1300" b="0">
                <a:solidFill>
                  <a:srgbClr val="333333"/>
                </a:solidFill>
              </a:rPr>
              <a:t>discount, total, status</a:t>
            </a:r>
            <a:br/>
            <a:r>
              <a:rPr sz="1300" b="0">
                <a:solidFill>
                  <a:srgbClr val="333333"/>
                </a:solidFill>
              </a:rPr>
              <a:t>notes, createdAt, updatedAt</a:t>
            </a:r>
            <a:br/>
            <a:br/>
            <a:r>
              <a:rPr sz="1300" b="0">
                <a:solidFill>
                  <a:srgbClr val="333333"/>
                </a:solidFill>
              </a:rPr>
              <a:t>5 status: draft, sent,</a:t>
            </a:r>
            <a:br/>
            <a:r>
              <a:rPr sz="1300" b="0">
                <a:solidFill>
                  <a:srgbClr val="333333"/>
                </a:solidFill>
              </a:rPr>
              <a:t>accepted, rejected, expired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9202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920240"/>
            <a:ext cx="34747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48840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ProposalItem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310896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333333"/>
                </a:solidFill>
              </a:rPr>
              <a:t>id, proposalId, serviceId</a:t>
            </a:r>
            <a:br/>
            <a:r>
              <a:rPr sz="1300" b="0">
                <a:solidFill>
                  <a:srgbClr val="333333"/>
                </a:solidFill>
              </a:rPr>
              <a:t>quantity, unitPrice, subtotal</a:t>
            </a:r>
            <a:br/>
            <a:r>
              <a:rPr sz="1300" b="0">
                <a:solidFill>
                  <a:srgbClr val="333333"/>
                </a:solidFill>
              </a:rPr>
              <a:t>createdAt</a:t>
            </a:r>
            <a:br/>
            <a:br/>
            <a:r>
              <a:rPr sz="1300" b="0">
                <a:solidFill>
                  <a:srgbClr val="333333"/>
                </a:solidFill>
              </a:rPr>
              <a:t>FK → Proposal (cascade)</a:t>
            </a:r>
            <a:br/>
            <a:r>
              <a:rPr sz="1300" b="0">
                <a:solidFill>
                  <a:srgbClr val="333333"/>
                </a:solidFill>
              </a:rPr>
              <a:t>FK → Service</a:t>
            </a:r>
            <a:br/>
            <a:r>
              <a:rPr sz="1300" b="0">
                <a:solidFill>
                  <a:srgbClr val="333333"/>
                </a:solidFill>
              </a:rPr>
              <a:t>unitPrice = snapshot do preço</a:t>
            </a:r>
            <a:br/>
            <a:r>
              <a:rPr sz="1300" b="0">
                <a:solidFill>
                  <a:srgbClr val="333333"/>
                </a:solidFill>
              </a:rPr>
              <a:t>no momento da criação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92024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920240"/>
            <a:ext cx="34747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48840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1">
                <a:solidFill>
                  <a:srgbClr val="29BA74"/>
                </a:solidFill>
              </a:rPr>
              <a:t>ProposalHistory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06040"/>
            <a:ext cx="310896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333333"/>
                </a:solidFill>
              </a:rPr>
              <a:t>id, proposalId, userId</a:t>
            </a:r>
            <a:br/>
            <a:r>
              <a:rPr sz="1300" b="0">
                <a:solidFill>
                  <a:srgbClr val="333333"/>
                </a:solidFill>
              </a:rPr>
              <a:t>field, oldValue, newValue</a:t>
            </a:r>
            <a:br/>
            <a:r>
              <a:rPr sz="1300" b="0">
                <a:solidFill>
                  <a:srgbClr val="333333"/>
                </a:solidFill>
              </a:rPr>
              <a:t>createdAt</a:t>
            </a:r>
            <a:br/>
            <a:br/>
            <a:r>
              <a:rPr sz="1300" b="0">
                <a:solidFill>
                  <a:srgbClr val="333333"/>
                </a:solidFill>
              </a:rPr>
              <a:t>FK → Proposal (cascade)</a:t>
            </a:r>
            <a:br/>
            <a:r>
              <a:rPr sz="1300" b="0">
                <a:solidFill>
                  <a:srgbClr val="333333"/>
                </a:solidFill>
              </a:rPr>
              <a:t>FK → User</a:t>
            </a:r>
            <a:br/>
            <a:r>
              <a:rPr sz="1300" b="0">
                <a:solidFill>
                  <a:srgbClr val="333333"/>
                </a:solidFill>
              </a:rPr>
              <a:t>Registra: status, items,</a:t>
            </a:r>
            <a:br/>
            <a:r>
              <a:rPr sz="1300" b="0">
                <a:solidFill>
                  <a:srgbClr val="333333"/>
                </a:solidFill>
              </a:rPr>
              <a:t>desconto alterados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11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Expiração automática de propostas enviadas há mais de 7 dias garante consistência sem intervenção manual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32004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800" b="1">
                <a:solidFill>
                  <a:srgbClr val="29BA74"/>
                </a:solidFill>
              </a:rPr>
              <a:t>60s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32004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75757"/>
                </a:solidFill>
              </a:rPr>
              <a:t>Intervalo da rotina de verificação</a:t>
            </a:r>
            <a:br/>
            <a:r>
              <a:rPr sz="1400" b="0">
                <a:solidFill>
                  <a:srgbClr val="575757"/>
                </a:solidFill>
              </a:rPr>
              <a:t>Executada no server.ts via setInterval</a:t>
            </a:r>
            <a:br/>
            <a:r>
              <a:rPr sz="1400" b="0">
                <a:solidFill>
                  <a:srgbClr val="575757"/>
                </a:solidFill>
              </a:rPr>
              <a:t>Verifica propostas com status 'sent'</a:t>
            </a:r>
            <a:br/>
            <a:r>
              <a:rPr sz="1400" b="0">
                <a:solidFill>
                  <a:srgbClr val="575757"/>
                </a:solidFill>
              </a:rPr>
              <a:t>e updatedAt &gt; 7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560320"/>
            <a:ext cx="32004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800" b="1">
                <a:solidFill>
                  <a:srgbClr val="29BA74"/>
                </a:solidFill>
              </a:rPr>
              <a:t>7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114800"/>
            <a:ext cx="32004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75757"/>
                </a:solidFill>
              </a:rPr>
              <a:t>Prazo para expiração automática</a:t>
            </a:r>
            <a:br/>
            <a:r>
              <a:rPr sz="1400" b="0">
                <a:solidFill>
                  <a:srgbClr val="575757"/>
                </a:solidFill>
              </a:rPr>
              <a:t>WHERE status = 'sent'</a:t>
            </a:r>
            <a:br/>
            <a:r>
              <a:rPr sz="1400" b="0">
                <a:solidFill>
                  <a:srgbClr val="575757"/>
                </a:solidFill>
              </a:rPr>
              <a:t>AND updatedAt &lt; NOW() - 7 days</a:t>
            </a:r>
            <a:br/>
            <a:r>
              <a:rPr sz="1400" b="0">
                <a:solidFill>
                  <a:srgbClr val="575757"/>
                </a:solidFill>
              </a:rPr>
              <a:t>→ status = 'expired'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560320"/>
            <a:ext cx="32004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800" b="1">
                <a:solidFill>
                  <a:srgbClr val="29BA74"/>
                </a:solidFill>
              </a:rPr>
              <a:t>0 deps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114800"/>
            <a:ext cx="32004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75757"/>
                </a:solidFill>
              </a:rPr>
              <a:t>Zero dependências externas</a:t>
            </a:r>
            <a:br/>
            <a:r>
              <a:rPr sz="1400" b="0">
                <a:solidFill>
                  <a:srgbClr val="575757"/>
                </a:solidFill>
              </a:rPr>
              <a:t>Implementado com setInterval nativo</a:t>
            </a:r>
            <a:br/>
            <a:r>
              <a:rPr sz="1400" b="0">
                <a:solidFill>
                  <a:srgbClr val="575757"/>
                </a:solidFill>
              </a:rPr>
              <a:t>Sem cron jobs, sem bibliotecas</a:t>
            </a:r>
            <a:br/>
            <a:r>
              <a:rPr sz="1400" b="0">
                <a:solidFill>
                  <a:srgbClr val="575757"/>
                </a:solidFill>
              </a:rPr>
              <a:t>Log console a cada expiração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577840"/>
            <a:ext cx="10515600" cy="640080"/>
          </a:xfrm>
          <a:prstGeom prst="roundRect">
            <a:avLst>
              <a:gd name="adj" fmla="val 5000"/>
            </a:avLst>
          </a:prstGeom>
          <a:solidFill>
            <a:srgbClr val="F0FAF5"/>
          </a:solidFill>
          <a:ln w="1905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1498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29BA74"/>
                </a:solidFill>
              </a:rPr>
              <a:t>Key insight: A rotina de expiração opera de forma transparente — propostas 'sent' sem resposta em 7 dias são automaticamente marcadas como 'expired', mantendo o pipeline limpo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12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dashboard de orçamentos oferece relatórios gerenciais, CRUD completo e visualização detalhada com histórico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53035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937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9BA74"/>
                </a:solidFill>
              </a:rPr>
              <a:t>Relatórios Gerenciais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93776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333333"/>
                </a:solidFill>
              </a:rPr>
              <a:t>4 cards coloridos no topo: Total de propostas, Aceitas, Receita acumulada (R$), Taxa de conversão (%). Dados agregados via GET /api/proposals/reports.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920240"/>
            <a:ext cx="53035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4937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9BA74"/>
                </a:solidFill>
              </a:rPr>
              <a:t>Criação de Propostas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493776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333333"/>
                </a:solidFill>
              </a:rPr>
              <a:t>Formulário com título, cliente, email, desconto, notas. Seleção múltipla de serviços com quantidade. Cálculo de total em tempo real (subtotal − desconto). POST /api/proposals.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3035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4937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9BA74"/>
                </a:solidFill>
              </a:rPr>
              <a:t>Ações por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493776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333333"/>
                </a:solidFill>
              </a:rPr>
              <a:t>Botões contextuais: rascunho → 'Enviar', enviada → 'Aceitar'/'Recusar'. Badges coloridos: cinza (draft), azul (sent), verde (accepted), vermelho (rejected), amarelo (expired). PATCH /api/proposals/:id/status.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1148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4114800"/>
            <a:ext cx="5303520" cy="54864"/>
          </a:xfrm>
          <a:prstGeom prst="rect">
            <a:avLst/>
          </a:prstGeom>
          <a:solidFill>
            <a:srgbClr val="29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297680"/>
            <a:ext cx="49377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9BA74"/>
                </a:solidFill>
              </a:rPr>
              <a:t>Visualização Detalhada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63440"/>
            <a:ext cx="493776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333333"/>
                </a:solidFill>
              </a:rPr>
              <a:t>Modal com status, subtotal, total. Tabela de itens (serviço, qty, preço unit., subtotal). Histórico de alterações com usuário, campo, valor antigo → novo, timestamp. GET /api/proposals/:id.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13]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projeto demonstra domínio de arquitetura em camadas, regras de negócio complexas e processos automatizados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9BA74"/>
                </a:solidFill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834640"/>
            <a:ext cx="274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Separação em camadas</a:t>
            </a:r>
            <a:br/>
            <a:r>
              <a:rPr sz="1400" b="0">
                <a:solidFill>
                  <a:srgbClr val="333333"/>
                </a:solidFill>
              </a:rPr>
              <a:t>(schema → service → routes)</a:t>
            </a:r>
            <a:br/>
            <a:r>
              <a:rPr sz="1400" b="0">
                <a:solidFill>
                  <a:srgbClr val="333333"/>
                </a:solidFill>
              </a:rPr>
              <a:t>Frontend + Backend isolados</a:t>
            </a:r>
            <a:br/>
            <a:r>
              <a:rPr sz="1400" b="0">
                <a:solidFill>
                  <a:srgbClr val="333333"/>
                </a:solidFill>
              </a:rPr>
              <a:t>Plugins modulares</a:t>
            </a:r>
            <a:br/>
            <a:r>
              <a:rPr sz="1400" b="0">
                <a:solidFill>
                  <a:srgbClr val="333333"/>
                </a:solidFill>
              </a:rPr>
              <a:t>Padrão consistente em 7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286000"/>
            <a:ext cx="2743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9BA74"/>
                </a:solidFill>
              </a:rPr>
              <a:t>Regras de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834640"/>
            <a:ext cx="274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Máquina de estados</a:t>
            </a:r>
            <a:br/>
            <a:r>
              <a:rPr sz="1400" b="0">
                <a:solidFill>
                  <a:srgbClr val="333333"/>
                </a:solidFill>
              </a:rPr>
              <a:t>Cálculos server-side</a:t>
            </a:r>
            <a:br/>
            <a:r>
              <a:rPr sz="1400" b="0">
                <a:solidFill>
                  <a:srgbClr val="333333"/>
                </a:solidFill>
              </a:rPr>
              <a:t>Validação de transições</a:t>
            </a:r>
            <a:br/>
            <a:r>
              <a:rPr sz="1400" b="0">
                <a:solidFill>
                  <a:srgbClr val="333333"/>
                </a:solidFill>
              </a:rPr>
              <a:t>Bloqueio de edição pós-envio</a:t>
            </a:r>
            <a:br/>
            <a:r>
              <a:rPr sz="1400" b="0">
                <a:solidFill>
                  <a:srgbClr val="333333"/>
                </a:solidFill>
              </a:rPr>
              <a:t>Histórico de auditoria completo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86000"/>
            <a:ext cx="27432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29BA74"/>
                </a:solidFill>
              </a:rPr>
              <a:t>Automação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834640"/>
            <a:ext cx="27432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333333"/>
                </a:solidFill>
              </a:rPr>
              <a:t>Expiração automática</a:t>
            </a:r>
            <a:br/>
            <a:r>
              <a:rPr sz="1400" b="0">
                <a:solidFill>
                  <a:srgbClr val="333333"/>
                </a:solidFill>
              </a:rPr>
              <a:t>Rate limiting de login</a:t>
            </a:r>
            <a:br/>
            <a:r>
              <a:rPr sz="1400" b="0">
                <a:solidFill>
                  <a:srgbClr val="333333"/>
                </a:solidFill>
              </a:rPr>
              <a:t>Tratamento global de erros</a:t>
            </a:r>
            <a:br/>
            <a:r>
              <a:rPr sz="1400" b="0">
                <a:solidFill>
                  <a:srgbClr val="333333"/>
                </a:solidFill>
              </a:rPr>
              <a:t>Relatórios gerenciais</a:t>
            </a:r>
            <a:br/>
            <a:r>
              <a:rPr sz="1400" b="0">
                <a:solidFill>
                  <a:srgbClr val="333333"/>
                </a:solidFill>
              </a:rPr>
              <a:t>Limpeza periódica de memória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30352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F0FAF5"/>
          </a:solidFill>
          <a:ln w="1905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01498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1">
                <a:solidFill>
                  <a:srgbClr val="29BA74"/>
                </a:solidFill>
              </a:rPr>
              <a:t>Conclusão: O sistema entrega valor real — não é apenas um CRUD, é uma plataforma com segurança, governança de dados e regras de negócio dignas de produção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14]"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800" b="1">
                <a:solidFill>
                  <a:srgbClr val="29BA74"/>
                </a:solidFill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0">
                <a:solidFill>
                  <a:srgbClr val="333333"/>
                </a:solidFill>
              </a:rPr>
              <a:t>Sistema Web Unobtainium — CC6PDSW — Junho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75757"/>
                </a:solidFill>
              </a:rPr>
              <a:t>Next.js 14 + Fastify 4 + Prisma 5 + SQLite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Web Unobtainium — CC6PDSW</dc:title>
  <dc:subject>Apresentação final do projeto</dc:subject>
  <dc:creator>Unobtainium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